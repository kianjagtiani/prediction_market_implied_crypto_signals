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Granger Causality — Confirmed at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QuantSC  |  Crypto Desk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515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</a:rPr>
              <a:t>Full 53-market universe · Bonferroni-corrected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58521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 b="1">
                <a:solidFill>
                  <a:srgbClr val="5B2D8E"/>
                </a:solidFill>
              </a:rPr>
              <a:t>Key findings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333333"/>
                </a:solidFill>
              </a:rPr>
              <a:t>• 60 (market, definition) pairs tested across all 53 markets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333333"/>
                </a:solidFill>
              </a:rPr>
              <a:t>• 43 pairs significant at raw p &lt; 0.05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333333"/>
                </a:solidFill>
              </a:rPr>
              <a:t>• 25 pairs survive Bonferroni correction  (p &lt; 0.05 after ×60 adjust)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333333"/>
                </a:solidFill>
              </a:rPr>
              <a:t>• Top result: p = 1.51×10⁻³⁰  —  KXBTCMAX150-25-26JAN31 / D4, lag = 23 min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300" b="1">
                <a:solidFill>
                  <a:srgbClr val="5B2D8E"/>
                </a:solidFill>
              </a:rPr>
              <a:t>D4 profile (volume-confirmed z-score)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333333"/>
                </a:solidFill>
              </a:rPr>
              <a:t>• Best lags 23–30 min — tighter and more consistent than D1 (6–45 min)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333333"/>
                </a:solidFill>
              </a:rPr>
              <a:t>• Higher correlation at best lag, lower variance across markets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333333"/>
                </a:solidFill>
              </a:rPr>
              <a:t>• Granger p-values an order of magnitude lower than D1/D2/D3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333333"/>
                </a:solidFill>
              </a:rPr>
              <a:t>• Trade-off: fewer signals than D1 (volume gate filters ~42%)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300" b="1">
                <a:solidFill>
                  <a:srgbClr val="5B2D8E"/>
                </a:solidFill>
              </a:rPr>
              <a:t>Verdict</a:t>
            </a:r>
          </a:p>
          <a:p>
            <a:pPr>
              <a:spcBef>
                <a:spcPts val="200"/>
              </a:spcBef>
            </a:pPr>
            <a:r>
              <a:rPr sz="1300" b="1">
                <a:solidFill>
                  <a:srgbClr val="333333"/>
                </a:solidFill>
              </a:rPr>
              <a:t>The information edge is real and confirmed.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555555"/>
                </a:solidFill>
              </a:rPr>
              <a:t>The question is whether it's tradeable.</a:t>
            </a:r>
          </a:p>
        </p:txBody>
      </p:sp>
      <p:pic>
        <p:nvPicPr>
          <p:cNvPr id="7" name="Picture 6" descr="ccf_KXBTCMAX150-25-26JAN31-149999.99_D1_vs_b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43000"/>
            <a:ext cx="539496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429768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B2D8E"/>
                </a:solidFill>
              </a:rPr>
              <a:t>Top Bonferroni-significant pairs (25 of 60 passed)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4617720"/>
            <a:ext cx="2743200" cy="310896"/>
          </a:xfrm>
          <a:prstGeom prst="rect">
            <a:avLst/>
          </a:prstGeom>
          <a:solidFill>
            <a:srgbClr val="EDE7F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7376" y="4636008"/>
            <a:ext cx="2670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33333"/>
                </a:solidFill>
              </a:rPr>
              <a:t>Market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26880" y="4617720"/>
            <a:ext cx="594360" cy="310896"/>
          </a:xfrm>
          <a:prstGeom prst="rect">
            <a:avLst/>
          </a:prstGeom>
          <a:solidFill>
            <a:srgbClr val="EDE7F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63455" y="4636008"/>
            <a:ext cx="5212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33333"/>
                </a:solidFill>
              </a:rPr>
              <a:t>Def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66960" y="4617720"/>
            <a:ext cx="658368" cy="310896"/>
          </a:xfrm>
          <a:prstGeom prst="rect">
            <a:avLst/>
          </a:prstGeom>
          <a:solidFill>
            <a:srgbClr val="EDE7F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03536" y="4636008"/>
            <a:ext cx="5852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33333"/>
                </a:solidFill>
              </a:rPr>
              <a:t>Lag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652760" y="4617720"/>
            <a:ext cx="1463040" cy="310896"/>
          </a:xfrm>
          <a:prstGeom prst="rect">
            <a:avLst/>
          </a:prstGeom>
          <a:solidFill>
            <a:srgbClr val="EDE7F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89336" y="4636008"/>
            <a:ext cx="13898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33333"/>
                </a:solidFill>
              </a:rPr>
              <a:t>p-value (raw)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4937759"/>
            <a:ext cx="27432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37376" y="4956048"/>
            <a:ext cx="2670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KXBTCMAX150-25-26JAN31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0" y="4937759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63455" y="4956048"/>
            <a:ext cx="5212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D4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66960" y="4937759"/>
            <a:ext cx="65836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03536" y="4956048"/>
            <a:ext cx="5852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23 min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652760" y="4937759"/>
            <a:ext cx="14630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89336" y="4956048"/>
            <a:ext cx="13898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1.51×10⁻³⁰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5257800"/>
            <a:ext cx="27432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37376" y="5276088"/>
            <a:ext cx="2670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KXBTCMAX150-25-26JAN31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26880" y="5257800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63455" y="5276088"/>
            <a:ext cx="5212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D1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966960" y="5257800"/>
            <a:ext cx="65836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03536" y="5276088"/>
            <a:ext cx="5852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6 min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652760" y="5257800"/>
            <a:ext cx="14630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89336" y="5276088"/>
            <a:ext cx="13898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3.2×10⁻¹⁸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5577840"/>
            <a:ext cx="27432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37376" y="5596128"/>
            <a:ext cx="2670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KXBTCMAX150-25-26MAR31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326880" y="5577840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63455" y="5596128"/>
            <a:ext cx="5212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D4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966960" y="5577840"/>
            <a:ext cx="65836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03536" y="5596128"/>
            <a:ext cx="5852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25 min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652760" y="5577840"/>
            <a:ext cx="14630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689336" y="5596128"/>
            <a:ext cx="13898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8.7×10⁻¹⁵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5897879"/>
            <a:ext cx="27432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37376" y="5916168"/>
            <a:ext cx="2670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KXBTCMAXY-25-DEC31-...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326880" y="5897879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63455" y="5916168"/>
            <a:ext cx="5212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D4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966960" y="5897879"/>
            <a:ext cx="65836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03536" y="5916168"/>
            <a:ext cx="5852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28 min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652760" y="5897879"/>
            <a:ext cx="14630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689336" y="5916168"/>
            <a:ext cx="13898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2.1×10⁻¹²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Move Happens Before You Can 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QuantSC  |  Crypto Desk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515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</a:rPr>
              <a:t>Direction-adjusted CAR · 240-min window · 10bp cost hurdle · 5 primary BTC markets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2D8E"/>
                </a:solidFill>
              </a:rPr>
              <a:t>Event Study 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1600200" cy="347472"/>
          </a:xfrm>
          <a:prstGeom prst="rect">
            <a:avLst/>
          </a:prstGeom>
          <a:solidFill>
            <a:srgbClr val="EDE7F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572768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</a:rPr>
              <a:t>Definition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1554480"/>
            <a:ext cx="914400" cy="347472"/>
          </a:xfrm>
          <a:prstGeom prst="rect">
            <a:avLst/>
          </a:prstGeom>
          <a:solidFill>
            <a:srgbClr val="EDE7F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7400" y="1572768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</a:rPr>
              <a:t>N Events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71800" y="1554480"/>
            <a:ext cx="1188720" cy="347472"/>
          </a:xfrm>
          <a:prstGeom prst="rect">
            <a:avLst/>
          </a:prstGeom>
          <a:solidFill>
            <a:srgbClr val="EDE7F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1572768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</a:rPr>
              <a:t>Peak Net CAR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554480"/>
            <a:ext cx="822960" cy="347472"/>
          </a:xfrm>
          <a:prstGeom prst="rect">
            <a:avLst/>
          </a:prstGeom>
          <a:solidFill>
            <a:srgbClr val="EDE7F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59" y="1572768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</a:rPr>
              <a:t>p-value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74920" y="1554480"/>
            <a:ext cx="868680" cy="347472"/>
          </a:xfrm>
          <a:prstGeom prst="rect">
            <a:avLst/>
          </a:prstGeom>
          <a:solidFill>
            <a:srgbClr val="EDE7F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1572768"/>
            <a:ext cx="777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</a:rPr>
              <a:t>Pass?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920240"/>
            <a:ext cx="16002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1938528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D1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0" y="1920240"/>
            <a:ext cx="9144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57400" y="193852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304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71800" y="1920240"/>
            <a:ext cx="11887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17520" y="19385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−0.12%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1920240"/>
            <a:ext cx="8229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51959" y="193852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0.17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74920" y="1920240"/>
            <a:ext cx="86868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0" y="1938528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✗ FAIL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267712"/>
            <a:ext cx="16002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228600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D2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0" y="2267712"/>
            <a:ext cx="9144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57400" y="22860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44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71800" y="2267712"/>
            <a:ext cx="11887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17520" y="22860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+0.005%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6240" y="2267712"/>
            <a:ext cx="8229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51959" y="22860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0.54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74920" y="2267712"/>
            <a:ext cx="86868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20640" y="2286000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✗ FAIL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2615184"/>
            <a:ext cx="16002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2633472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D3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0" y="2615184"/>
            <a:ext cx="9144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57400" y="263347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18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971800" y="2615184"/>
            <a:ext cx="11887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17520" y="263347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+0.26%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06240" y="2615184"/>
            <a:ext cx="8229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51959" y="263347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0.19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74920" y="2615184"/>
            <a:ext cx="86868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20640" y="2633472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✗ FAIL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2962656"/>
            <a:ext cx="16002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2980944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D4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011680" y="2962656"/>
            <a:ext cx="9144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057400" y="298094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170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971800" y="2962656"/>
            <a:ext cx="11887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017520" y="298094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−0.13%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06240" y="2962656"/>
            <a:ext cx="8229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51959" y="2980944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0.35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74920" y="2962656"/>
            <a:ext cx="86868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120640" y="2980944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✗ FAIL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760" y="3429000"/>
            <a:ext cx="5669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0">
                <a:solidFill>
                  <a:srgbClr val="333333"/>
                </a:solidFill>
              </a:rPr>
              <a:t>Statistical test: one-sample t-test on individual event returns at peak bar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3333"/>
                </a:solidFill>
              </a:rPr>
              <a:t>(H₀: mean return = 0)  —  none pass p &lt; 0.05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5B2D8E"/>
                </a:solidFill>
              </a:rPr>
              <a:t>Conclusion</a:t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333333"/>
                </a:solidFill>
              </a:rPr>
              <a:t>BTC prices the Kalshi signal within the first minute.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555555"/>
                </a:solidFill>
              </a:rPr>
              <a:t>By T+1 the move has already happened — entries are systematically late.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3333"/>
                </a:solidFill>
              </a:rPr>
              <a:t>H=240 survives not by catching the initial move,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3333"/>
                </a:solidFill>
              </a:rPr>
              <a:t>but by riding the sustained drift that follows confirmed jumps.</a:t>
            </a:r>
          </a:p>
        </p:txBody>
      </p:sp>
      <p:pic>
        <p:nvPicPr>
          <p:cNvPr id="58" name="Picture 57" descr="event_study_car_D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43000"/>
            <a:ext cx="566928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STRATEGY 2  |  Backtest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4D8"/>
                </a:solidFill>
              </a:rPr>
              <a:t>Only H=240 Produces Positive Sharpe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83112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07008"/>
            <a:ext cx="111831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</a:rPr>
              <a:t>–  Strategy: enter BTC long/short at T+1 after signal, hold H bars, exit on stop-loss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</a:rPr>
              <a:t>–  Costs: 0.075% commission round-trip + 0.025% slippage + 1.5× vol stop-loss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</a:rPr>
              <a:t>–  Data split: 60/20/20 chronological by events — test set used exactly once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</a:rPr>
              <a:t>–  All figures below are the </a:t>
            </a:r>
            <a:r>
              <a:rPr sz="1300" b="1">
                <a:solidFill>
                  <a:srgbClr val="FFFFFF"/>
                </a:solidFill>
              </a:rPr>
              <a:t>validation set</a:t>
            </a:r>
            <a:r>
              <a:rPr sz="1300">
                <a:solidFill>
                  <a:srgbClr val="FFFFFF"/>
                </a:solidFill>
              </a:rPr>
              <a:t> (reliable)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606040"/>
            <a:ext cx="1627632" cy="713232"/>
          </a:xfrm>
          <a:prstGeom prst="rect">
            <a:avLst/>
          </a:prstGeom>
          <a:solidFill>
            <a:srgbClr val="0D475E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2770632"/>
            <a:ext cx="14813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</a:rPr>
              <a:t>Def</a:t>
            </a:r>
          </a:p>
        </p:txBody>
      </p:sp>
      <p:sp>
        <p:nvSpPr>
          <p:cNvPr id="8" name="Rectangle 7"/>
          <p:cNvSpPr/>
          <p:nvPr/>
        </p:nvSpPr>
        <p:spPr>
          <a:xfrm>
            <a:off x="2057400" y="2606040"/>
            <a:ext cx="1408176" cy="713232"/>
          </a:xfrm>
          <a:prstGeom prst="rect">
            <a:avLst/>
          </a:prstGeom>
          <a:solidFill>
            <a:srgbClr val="0D475E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30552" y="2770632"/>
            <a:ext cx="1261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</a:rPr>
              <a:t>H=10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40" y="2606040"/>
            <a:ext cx="1408176" cy="713232"/>
          </a:xfrm>
          <a:prstGeom prst="rect">
            <a:avLst/>
          </a:prstGeom>
          <a:solidFill>
            <a:srgbClr val="0D475E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2770632"/>
            <a:ext cx="1261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</a:rPr>
              <a:t>H=30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83480" y="2606040"/>
            <a:ext cx="1408176" cy="713232"/>
          </a:xfrm>
          <a:prstGeom prst="rect">
            <a:avLst/>
          </a:prstGeom>
          <a:solidFill>
            <a:srgbClr val="0D475E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56632" y="2770632"/>
            <a:ext cx="1261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</a:rPr>
              <a:t>H=60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2606040"/>
            <a:ext cx="2139696" cy="713232"/>
          </a:xfrm>
          <a:prstGeom prst="rect">
            <a:avLst/>
          </a:prstGeom>
          <a:solidFill>
            <a:srgbClr val="0D475E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2770632"/>
            <a:ext cx="1993391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</a:rPr>
              <a:t>H=240 Sharpe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41080" y="2606040"/>
            <a:ext cx="1728216" cy="713232"/>
          </a:xfrm>
          <a:prstGeom prst="rect">
            <a:avLst/>
          </a:prstGeom>
          <a:solidFill>
            <a:srgbClr val="0D475E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14232" y="2770632"/>
            <a:ext cx="15819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</a:rPr>
              <a:t>H=240 Max DD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424160" y="2606040"/>
            <a:ext cx="1709928" cy="713232"/>
          </a:xfrm>
          <a:prstGeom prst="rect">
            <a:avLst/>
          </a:prstGeom>
          <a:solidFill>
            <a:srgbClr val="0D475E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97312" y="2770632"/>
            <a:ext cx="15636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</a:rPr>
              <a:t>H=240 Trades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319272"/>
            <a:ext cx="1627632" cy="713232"/>
          </a:xfrm>
          <a:prstGeom prst="rect">
            <a:avLst/>
          </a:prstGeom>
          <a:solidFill>
            <a:srgbClr val="282828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3483864"/>
            <a:ext cx="14813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B4D8"/>
                </a:solidFill>
              </a:rPr>
              <a:t>D1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57400" y="3319272"/>
            <a:ext cx="1408176" cy="713232"/>
          </a:xfrm>
          <a:prstGeom prst="rect">
            <a:avLst/>
          </a:prstGeom>
          <a:solidFill>
            <a:srgbClr val="282828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30552" y="3483864"/>
            <a:ext cx="1261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AAAAAA"/>
                </a:solidFill>
              </a:rPr>
              <a:t>-2.30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20440" y="3319272"/>
            <a:ext cx="1408176" cy="713232"/>
          </a:xfrm>
          <a:prstGeom prst="rect">
            <a:avLst/>
          </a:prstGeom>
          <a:solidFill>
            <a:srgbClr val="282828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93592" y="3483864"/>
            <a:ext cx="1261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AAAAAA"/>
                </a:solidFill>
              </a:rPr>
              <a:t>-1.92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83480" y="3319272"/>
            <a:ext cx="1408176" cy="713232"/>
          </a:xfrm>
          <a:prstGeom prst="rect">
            <a:avLst/>
          </a:prstGeom>
          <a:solidFill>
            <a:srgbClr val="282828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56632" y="3483864"/>
            <a:ext cx="1261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AAAAAA"/>
                </a:solidFill>
              </a:rPr>
              <a:t>-1.31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46520" y="3319272"/>
            <a:ext cx="2139696" cy="713232"/>
          </a:xfrm>
          <a:prstGeom prst="rect">
            <a:avLst/>
          </a:prstGeom>
          <a:solidFill>
            <a:srgbClr val="282828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9672" y="3483864"/>
            <a:ext cx="1993391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+0.37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41080" y="3319272"/>
            <a:ext cx="1728216" cy="713232"/>
          </a:xfrm>
          <a:prstGeom prst="rect">
            <a:avLst/>
          </a:prstGeom>
          <a:solidFill>
            <a:srgbClr val="282828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14232" y="3483864"/>
            <a:ext cx="15819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16.6%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424160" y="3319272"/>
            <a:ext cx="1709928" cy="713232"/>
          </a:xfrm>
          <a:prstGeom prst="rect">
            <a:avLst/>
          </a:prstGeom>
          <a:solidFill>
            <a:srgbClr val="282828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97312" y="3483864"/>
            <a:ext cx="15636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30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032504"/>
            <a:ext cx="1627632" cy="713232"/>
          </a:xfrm>
          <a:prstGeom prst="rect">
            <a:avLst/>
          </a:prstGeom>
          <a:solidFill>
            <a:srgbClr val="282828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4197096"/>
            <a:ext cx="14813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B4D8"/>
                </a:solidFill>
              </a:rPr>
              <a:t>D2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57400" y="4032504"/>
            <a:ext cx="1408176" cy="713232"/>
          </a:xfrm>
          <a:prstGeom prst="rect">
            <a:avLst/>
          </a:prstGeom>
          <a:solidFill>
            <a:srgbClr val="282828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130552" y="4197096"/>
            <a:ext cx="1261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AAAAAA"/>
                </a:solidFill>
              </a:rPr>
              <a:t>-1.79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20440" y="4032504"/>
            <a:ext cx="1408176" cy="713232"/>
          </a:xfrm>
          <a:prstGeom prst="rect">
            <a:avLst/>
          </a:prstGeom>
          <a:solidFill>
            <a:srgbClr val="282828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93592" y="4197096"/>
            <a:ext cx="1261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AAAAAA"/>
                </a:solidFill>
              </a:rPr>
              <a:t>-0.71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83480" y="4032504"/>
            <a:ext cx="1408176" cy="713232"/>
          </a:xfrm>
          <a:prstGeom prst="rect">
            <a:avLst/>
          </a:prstGeom>
          <a:solidFill>
            <a:srgbClr val="282828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56632" y="4197096"/>
            <a:ext cx="1261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AAAAAA"/>
                </a:solidFill>
              </a:rPr>
              <a:t>-0.34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46520" y="4032504"/>
            <a:ext cx="2139696" cy="713232"/>
          </a:xfrm>
          <a:prstGeom prst="rect">
            <a:avLst/>
          </a:prstGeom>
          <a:solidFill>
            <a:srgbClr val="282828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19672" y="4197096"/>
            <a:ext cx="1993391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+1.29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641080" y="4032504"/>
            <a:ext cx="1728216" cy="713232"/>
          </a:xfrm>
          <a:prstGeom prst="rect">
            <a:avLst/>
          </a:prstGeom>
          <a:solidFill>
            <a:srgbClr val="282828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14232" y="4197096"/>
            <a:ext cx="15819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5.1%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424160" y="4032504"/>
            <a:ext cx="1709928" cy="713232"/>
          </a:xfrm>
          <a:prstGeom prst="rect">
            <a:avLst/>
          </a:prstGeom>
          <a:solidFill>
            <a:srgbClr val="282828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497312" y="4197096"/>
            <a:ext cx="15636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44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4745736"/>
            <a:ext cx="1627632" cy="713232"/>
          </a:xfrm>
          <a:prstGeom prst="rect">
            <a:avLst/>
          </a:prstGeom>
          <a:solidFill>
            <a:srgbClr val="282828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8912" y="4910327"/>
            <a:ext cx="14813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B4D8"/>
                </a:solidFill>
              </a:rPr>
              <a:t>D3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057400" y="4745736"/>
            <a:ext cx="1408176" cy="713232"/>
          </a:xfrm>
          <a:prstGeom prst="rect">
            <a:avLst/>
          </a:prstGeom>
          <a:solidFill>
            <a:srgbClr val="282828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30552" y="4910327"/>
            <a:ext cx="1261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AAAAAA"/>
                </a:solidFill>
              </a:rPr>
              <a:t>-1.88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520440" y="4745736"/>
            <a:ext cx="1408176" cy="713232"/>
          </a:xfrm>
          <a:prstGeom prst="rect">
            <a:avLst/>
          </a:prstGeom>
          <a:solidFill>
            <a:srgbClr val="282828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593592" y="4910327"/>
            <a:ext cx="1261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AAAAAA"/>
                </a:solidFill>
              </a:rPr>
              <a:t>-0.58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983480" y="4745736"/>
            <a:ext cx="1408176" cy="713232"/>
          </a:xfrm>
          <a:prstGeom prst="rect">
            <a:avLst/>
          </a:prstGeom>
          <a:solidFill>
            <a:srgbClr val="282828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56632" y="4910327"/>
            <a:ext cx="1261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AAAAAA"/>
                </a:solidFill>
              </a:rPr>
              <a:t>+0.03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46520" y="4745736"/>
            <a:ext cx="2139696" cy="713232"/>
          </a:xfrm>
          <a:prstGeom prst="rect">
            <a:avLst/>
          </a:prstGeom>
          <a:solidFill>
            <a:srgbClr val="282828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19672" y="4910327"/>
            <a:ext cx="1993391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+1.21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641080" y="4745736"/>
            <a:ext cx="1728216" cy="713232"/>
          </a:xfrm>
          <a:prstGeom prst="rect">
            <a:avLst/>
          </a:prstGeom>
          <a:solidFill>
            <a:srgbClr val="282828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714232" y="4910327"/>
            <a:ext cx="15819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7.9%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424160" y="4745736"/>
            <a:ext cx="1709928" cy="713232"/>
          </a:xfrm>
          <a:prstGeom prst="rect">
            <a:avLst/>
          </a:prstGeom>
          <a:solidFill>
            <a:srgbClr val="282828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497312" y="4910327"/>
            <a:ext cx="15636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65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" y="5458968"/>
            <a:ext cx="1627632" cy="713232"/>
          </a:xfrm>
          <a:prstGeom prst="rect">
            <a:avLst/>
          </a:prstGeom>
          <a:solidFill>
            <a:srgbClr val="282828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38912" y="5623559"/>
            <a:ext cx="14813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B4D8"/>
                </a:solidFill>
              </a:rPr>
              <a:t>D4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057400" y="5458968"/>
            <a:ext cx="1408176" cy="713232"/>
          </a:xfrm>
          <a:prstGeom prst="rect">
            <a:avLst/>
          </a:prstGeom>
          <a:solidFill>
            <a:srgbClr val="282828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130552" y="5623559"/>
            <a:ext cx="1261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AAAAAA"/>
                </a:solidFill>
              </a:rPr>
              <a:t>-2.36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520440" y="5458968"/>
            <a:ext cx="1408176" cy="713232"/>
          </a:xfrm>
          <a:prstGeom prst="rect">
            <a:avLst/>
          </a:prstGeom>
          <a:solidFill>
            <a:srgbClr val="282828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593592" y="5623559"/>
            <a:ext cx="1261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AAAAAA"/>
                </a:solidFill>
              </a:rPr>
              <a:t>-1.65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83480" y="5458968"/>
            <a:ext cx="1408176" cy="713232"/>
          </a:xfrm>
          <a:prstGeom prst="rect">
            <a:avLst/>
          </a:prstGeom>
          <a:solidFill>
            <a:srgbClr val="282828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56632" y="5623559"/>
            <a:ext cx="1261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AAAAAA"/>
                </a:solidFill>
              </a:rPr>
              <a:t>-0.58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46520" y="5458968"/>
            <a:ext cx="2139696" cy="713232"/>
          </a:xfrm>
          <a:prstGeom prst="rect">
            <a:avLst/>
          </a:prstGeom>
          <a:solidFill>
            <a:srgbClr val="282828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519672" y="5623559"/>
            <a:ext cx="1993391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+0.94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641080" y="5458968"/>
            <a:ext cx="1728216" cy="713232"/>
          </a:xfrm>
          <a:prstGeom prst="rect">
            <a:avLst/>
          </a:prstGeom>
          <a:solidFill>
            <a:srgbClr val="282828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714232" y="5623559"/>
            <a:ext cx="15819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9.1%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424160" y="5458968"/>
            <a:ext cx="1709928" cy="713232"/>
          </a:xfrm>
          <a:prstGeom prst="rect">
            <a:avLst/>
          </a:prstGeom>
          <a:solidFill>
            <a:srgbClr val="282828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497312" y="5623559"/>
            <a:ext cx="15636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66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 = 240 Equity Curves: Controlled Drawdowns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QuantSC  |  Crypto Desk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515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</a:rPr>
              <a:t>D2 shown · Test set · Net of all costs · Benchmark = BTC buy-and-hold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B2D8E"/>
                </a:solidFill>
              </a:rPr>
              <a:t>Equity Curve — D2, H=240</a:t>
            </a:r>
          </a:p>
        </p:txBody>
      </p:sp>
      <p:pic>
        <p:nvPicPr>
          <p:cNvPr id="7" name="Picture 6" descr="equity_curve_D2_H240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17320"/>
            <a:ext cx="5760720" cy="320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63640" y="109728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B2D8E"/>
                </a:solidFill>
              </a:rPr>
              <a:t>Drawdown — D2, H=240</a:t>
            </a:r>
          </a:p>
        </p:txBody>
      </p:sp>
      <p:pic>
        <p:nvPicPr>
          <p:cNvPr id="9" name="Picture 8" descr="drawdown_D2_H240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417320"/>
            <a:ext cx="5760720" cy="3200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4320" y="4754880"/>
            <a:ext cx="11612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50" b="1">
                <a:solidFill>
                  <a:srgbClr val="5B2D8E"/>
                </a:solidFill>
              </a:rPr>
              <a:t>Drawdown profile — validation numbers (reliable)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333333"/>
                </a:solidFill>
              </a:rPr>
              <a:t>• D2 max drawdown = 5.1%  —  well below 20% threshold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333333"/>
                </a:solidFill>
              </a:rPr>
              <a:t>• D3 max drawdown = 7.9%  —  also passes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333333"/>
                </a:solidFill>
              </a:rPr>
              <a:t>• D1 max drawdown = 16.6%  —  passes but leaves little buffer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C0392B"/>
                </a:solidFill>
              </a:rPr>
              <a:t>Note on test-set Sharpe / CAGR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333333"/>
                </a:solidFill>
              </a:rPr>
              <a:t>Test Sharpe of 8–13 is inflated: btc_ret spans full history, so zero-padded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333333"/>
                </a:solidFill>
              </a:rPr>
              <a:t>train/val bars dominate the daily resample and crush realised volatility.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555555"/>
                </a:solidFill>
              </a:rPr>
              <a:t>Drawdown is unaffected (computed on per-bar returns). Fix is next semester.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Signal Survives the Most Conservative Treatment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QuantSC  |  Crypto Desk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515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</a:rPr>
              <a:t>No-forward-fill test · Parameter sensitivity ±20%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2D8E"/>
                </a:solidFill>
              </a:rPr>
              <a:t>Check 1 — No-Forward-Fill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72768"/>
            <a:ext cx="5486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0">
                <a:solidFill>
                  <a:srgbClr val="333333"/>
                </a:solidFill>
              </a:rPr>
              <a:t>Standard pipeline carries last known probability forward across quiet minutes.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3333"/>
                </a:solidFill>
              </a:rPr>
              <a:t>Removing this makes the signal sparser — harder to detect, harder to trade.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3333"/>
                </a:solidFill>
              </a:rPr>
              <a:t>D1 events:  2,293  →  258  (−89%)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3333"/>
                </a:solidFill>
              </a:rPr>
              <a:t>D4 events:  1,323  →  147  (−89%)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33333"/>
                </a:solidFill>
              </a:rPr>
              <a:t>Granger still holds on the sparse signal: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1A7A3C"/>
                </a:solidFill>
              </a:rPr>
              <a:t>  D1  p = 2.0×10⁻⁷   ✓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1A7A3C"/>
                </a:solidFill>
              </a:rPr>
              <a:t>  D4  p = 9.7×10⁻³   ✓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1A7A3C"/>
                </a:solidFill>
              </a:rPr>
              <a:t>  D1 H=240 test Sharpe = 1.62   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617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2D8E"/>
                </a:solidFill>
              </a:rPr>
              <a:t>Check 2 — Parameter Sensitivity (D3 rel-threshold ±20%)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4983480"/>
            <a:ext cx="1508760" cy="320040"/>
          </a:xfrm>
          <a:prstGeom prst="rect">
            <a:avLst/>
          </a:prstGeom>
          <a:solidFill>
            <a:srgbClr val="EDE7F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5001768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</a:rPr>
              <a:t>Multiplier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20240" y="4983480"/>
            <a:ext cx="1508760" cy="320040"/>
          </a:xfrm>
          <a:prstGeom prst="rect">
            <a:avLst/>
          </a:prstGeom>
          <a:solidFill>
            <a:srgbClr val="EDE7F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65960" y="5001768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</a:rPr>
              <a:t>Threshold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4983480"/>
            <a:ext cx="1508760" cy="320040"/>
          </a:xfrm>
          <a:prstGeom prst="rect">
            <a:avLst/>
          </a:prstGeom>
          <a:solidFill>
            <a:srgbClr val="EDE7F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5001768"/>
            <a:ext cx="1417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</a:rPr>
              <a:t>Sharpe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5321808"/>
            <a:ext cx="15087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5340096"/>
            <a:ext cx="14173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0.8×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20240" y="5321808"/>
            <a:ext cx="15087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65960" y="5340096"/>
            <a:ext cx="14173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0.160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5321808"/>
            <a:ext cx="15087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0440" y="5340096"/>
            <a:ext cx="14173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A3C"/>
                </a:solidFill>
              </a:rPr>
              <a:t>1.73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614416"/>
            <a:ext cx="15087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5632704"/>
            <a:ext cx="14173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0.9×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20240" y="5614416"/>
            <a:ext cx="15087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65960" y="5632704"/>
            <a:ext cx="14173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0.180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0" y="5614416"/>
            <a:ext cx="15087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20440" y="5632704"/>
            <a:ext cx="14173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A3C"/>
                </a:solidFill>
              </a:rPr>
              <a:t>1.81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907024"/>
            <a:ext cx="15087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5925312"/>
            <a:ext cx="14173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1.0×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20240" y="5907024"/>
            <a:ext cx="15087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65960" y="5925312"/>
            <a:ext cx="14173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0.200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74720" y="5907024"/>
            <a:ext cx="15087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20440" y="5925312"/>
            <a:ext cx="14173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A3C"/>
                </a:solidFill>
              </a:rPr>
              <a:t>1.87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6199632"/>
            <a:ext cx="15087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217920"/>
            <a:ext cx="14173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1.1×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20240" y="6199632"/>
            <a:ext cx="15087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965960" y="6217920"/>
            <a:ext cx="14173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0.220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74720" y="6199632"/>
            <a:ext cx="15087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20440" y="6217920"/>
            <a:ext cx="14173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A3C"/>
                </a:solidFill>
              </a:rPr>
              <a:t>1.91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6492240"/>
            <a:ext cx="15087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10528"/>
            <a:ext cx="14173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1.2×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20240" y="6492240"/>
            <a:ext cx="15087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965960" y="6510528"/>
            <a:ext cx="14173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0.240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474720" y="6492240"/>
            <a:ext cx="15087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20440" y="6510528"/>
            <a:ext cx="14173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A3C"/>
                </a:solidFill>
              </a:rPr>
              <a:t>1.95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60196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A3C"/>
                </a:solidFill>
              </a:rPr>
              <a:t>Robust across all ±20% perturbations  ✓</a:t>
            </a:r>
          </a:p>
        </p:txBody>
      </p:sp>
      <p:pic>
        <p:nvPicPr>
          <p:cNvPr id="46" name="Picture 45" descr="lead_lag_regression_KXBTCMAX150-25-26JAN31-149999.99_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143000"/>
            <a:ext cx="594360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We're Building Next Semester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QuantSC  |  Crypto Desk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5486400" cy="5440680"/>
          </a:xfrm>
          <a:prstGeom prst="rect">
            <a:avLst/>
          </a:prstGeom>
          <a:solidFill>
            <a:srgbClr val="FDF2F8"/>
          </a:solidFill>
          <a:ln w="19050">
            <a:solidFill>
              <a:srgbClr val="5B2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6187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B2D8E"/>
                </a:solidFill>
              </a:rPr>
              <a:t>Fix 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51206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50" b="1">
                <a:solidFill>
                  <a:srgbClr val="333333"/>
                </a:solidFill>
              </a:rPr>
              <a:t>Test-set index bug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555555"/>
                </a:solidFill>
              </a:rPr>
              <a:t>Slice btc_ret to the test window before passing to run_backtest.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555555"/>
                </a:solidFill>
              </a:rPr>
              <a:t>Full BTC history currently enters the daily resample, crushing vol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555555"/>
                </a:solidFill>
              </a:rPr>
              <a:t>and inflating Sharpe to 8–13. One-line fix.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333333"/>
                </a:solidFill>
              </a:rPr>
              <a:t>Event study normalization bug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555555"/>
                </a:solidFill>
              </a:rPr>
              <a:t>full_event_study runs with normalize=True — divides returns by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555555"/>
                </a:solidFill>
              </a:rPr>
              <a:t>pre-event vol, outputting σ-units not %. Re-run with normalize=False.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333333"/>
                </a:solidFill>
              </a:rPr>
              <a:t>Walk-forward start date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555555"/>
                </a:solidFill>
              </a:rPr>
              <a:t>Currently set to Jan 2022 (BTC history start). Kalshi data only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555555"/>
                </a:solidFill>
              </a:rPr>
              <a:t>begins Nov 2024. Set start = Nov 2024 for meaningful windows.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82512" y="1143000"/>
            <a:ext cx="5486400" cy="5440680"/>
          </a:xfrm>
          <a:prstGeom prst="rect">
            <a:avLst/>
          </a:prstGeom>
          <a:solidFill>
            <a:srgbClr val="F0F4FF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11112" y="126187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56DB"/>
                </a:solidFill>
              </a:rPr>
              <a:t>Extensions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1112" y="1737360"/>
            <a:ext cx="51206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50" b="1">
                <a:solidFill>
                  <a:srgbClr val="333333"/>
                </a:solidFill>
              </a:rPr>
              <a:t>Sub-minute Kalshi feed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555555"/>
                </a:solidFill>
              </a:rPr>
              <a:t>10-second data via WebSocket. Re-run Granger at higher frequency —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555555"/>
                </a:solidFill>
              </a:rPr>
              <a:t>sub-minute leads likely exist and would compress the 23-min lag.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333333"/>
                </a:solidFill>
              </a:rPr>
              <a:t>Regime conditioning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555555"/>
                </a:solidFill>
              </a:rPr>
              <a:t>Use KXCPI / KXFED markets as macro filters on H=240 entries.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555555"/>
                </a:solidFill>
              </a:rPr>
              <a:t>Only trade when the macro regime is aligned with the signal.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333333"/>
                </a:solidFill>
              </a:rPr>
              <a:t>Multi-asset expansion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555555"/>
                </a:solidFill>
              </a:rPr>
              <a:t>Re-run full pipeline on ETH/SOL. Test whether BTC Kalshi signals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555555"/>
                </a:solidFill>
              </a:rPr>
              <a:t>spill over to other assets for cross-asset alpha.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333333"/>
                </a:solidFill>
              </a:rPr>
              <a:t>Live paper trading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555555"/>
                </a:solidFill>
              </a:rPr>
              <a:t>Top 5 Bonferroni pairs (D4). Track live Sharpe vs backtest weekly.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